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18"/>
    <p:sldId id="257" r:id="rId3"/>
    <p:sldId id="258" r:id="rId4"/>
    <p:sldId id="270" r:id="rId20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21"/>
    <p:sldId id="272" r:id="rId22"/>
    <p:sldId id="269" r:id="rId19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  <Relationship Id="rId18" Type="http://schemas.openxmlformats.org/officeDocument/2006/relationships/slide" Target="slides/slide13.xml"/>
  <Relationship Id="rId19" Type="http://schemas.openxmlformats.org/officeDocument/2006/relationships/slide" Target="slides/slide14.xml"/>
  <Relationship Id="rId20" Type="http://schemas.openxmlformats.org/officeDocument/2006/relationships/slide" Target="slides/slide15.xml"/>
  <Relationship Id="rId21" Type="http://schemas.openxmlformats.org/officeDocument/2006/relationships/slide" Target="slides/slide16.xml"/>
  <Relationship Id="rId22" Type="http://schemas.openxmlformats.org/officeDocument/2006/relationships/slide" Target="slides/slide17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8C71-823F-46F5-983F-DB5059B744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57892-2FE1-4460-821F-A5F989199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72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8C71-823F-46F5-983F-DB5059B744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57892-2FE1-4460-821F-A5F989199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615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8C71-823F-46F5-983F-DB5059B744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57892-2FE1-4460-821F-A5F989199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03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8C71-823F-46F5-983F-DB5059B744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57892-2FE1-4460-821F-A5F989199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538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8C71-823F-46F5-983F-DB5059B744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57892-2FE1-4460-821F-A5F989199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0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8C71-823F-46F5-983F-DB5059B744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57892-2FE1-4460-821F-A5F989199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688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8C71-823F-46F5-983F-DB5059B744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57892-2FE1-4460-821F-A5F989199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92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8C71-823F-46F5-983F-DB5059B744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57892-2FE1-4460-821F-A5F989199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491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8C71-823F-46F5-983F-DB5059B744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57892-2FE1-4460-821F-A5F989199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55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8C71-823F-46F5-983F-DB5059B744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57892-2FE1-4460-821F-A5F989199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889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8C71-823F-46F5-983F-DB5059B744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E57892-2FE1-4460-821F-A5F989199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522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B88C71-823F-46F5-983F-DB5059B7447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E57892-2FE1-4460-821F-A5F989199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73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905000"/>
            <a:ext cx="762000" cy="635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2159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4400" b="1" smtClean="0">
                <a:solidFill>
                  <a:srgbClr val="FFFFFF"/>
                </a:solidFill>
                <a:latin typeface="Georgia" panose="02040502050405020303" pitchFamily="18" charset="0"/>
              </a:rPr>
              <a:t>The Unserious Generation</a:t>
            </a:r>
          </a:p>
          <a:p>
            <a:r>
              <a:rPr lang="en-US" sz="4400" b="1" smtClean="0">
                <a:solidFill>
                  <a:srgbClr val="FFFFFF"/>
                </a:solidFill>
                <a:latin typeface="Georgia" panose="02040502050405020303" pitchFamily="18" charset="0"/>
              </a:rPr>
              <a:t>on the Most Serious Topic</a:t>
            </a:r>
            <a:endParaRPr lang="en-US" sz="44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3810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mtClean="0">
                <a:solidFill>
                  <a:srgbClr val="E6C8C8"/>
                </a:solidFill>
                <a:latin typeface="Calibri" panose="020F0502020204030204" pitchFamily="34" charset="0"/>
              </a:rPr>
              <a:t>Field Project  ·  Final Presentation  ·  SYBA English Literature</a:t>
            </a:r>
            <a:endParaRPr lang="en-US">
              <a:solidFill>
                <a:srgbClr val="E6C8C8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5080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BEBEC8"/>
                </a:solidFill>
                <a:latin typeface="Calibri" panose="020F0502020204030204" pitchFamily="34" charset="0"/>
              </a:rPr>
              <a:t>Presenter: Gatha Kalpana Vijay  ·  Guide: Prof. Dr. Umesh Jagdale Sir</a:t>
            </a:r>
          </a:p>
          <a:p>
            <a:r>
              <a:rPr lang="en-US" sz="1300" smtClean="0">
                <a:solidFill>
                  <a:srgbClr val="BEBEC8"/>
                </a:solidFill>
                <a:latin typeface="Calibri" panose="020F0502020204030204" pitchFamily="34" charset="0"/>
              </a:rPr>
              <a:t>Sangamner Nagarpalika Arts, D.J. Malpani Commerce and B.N. Sarda Science College (Autonomous)</a:t>
            </a:r>
          </a:p>
          <a:p>
            <a:r>
              <a:rPr lang="en-US" sz="1300" smtClean="0">
                <a:solidFill>
                  <a:srgbClr val="BEBEC8"/>
                </a:solidFill>
                <a:latin typeface="Calibri" panose="020F0502020204030204" pitchFamily="34" charset="0"/>
              </a:rPr>
              <a:t>October 2026</a:t>
            </a:r>
            <a:endParaRPr lang="en-US" sz="1300">
              <a:solidFill>
                <a:srgbClr val="BEBEC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6753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609600"/>
            <a:ext cx="4572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 smtClean="0">
                <a:solidFill>
                  <a:srgbClr val="C82634"/>
                </a:solidFill>
                <a:latin typeface="Calibri" panose="020F0502020204030204" pitchFamily="34" charset="0"/>
              </a:rPr>
              <a:t>RESEARCH</a:t>
            </a:r>
            <a:endParaRPr lang="en-US" sz="12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1016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 smtClean="0">
                <a:solidFill>
                  <a:srgbClr val="1C1C24"/>
                </a:solidFill>
                <a:latin typeface="Georgia" panose="02040502050405020303" pitchFamily="18" charset="0"/>
              </a:rPr>
              <a:t>Research Question &amp; Thesis</a:t>
            </a:r>
            <a:endParaRPr lang="en-US" sz="32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2000" y="1905000"/>
            <a:ext cx="50800" cy="812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90600" y="1905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smtClean="0">
                <a:solidFill>
                  <a:srgbClr val="C82634"/>
                </a:solidFill>
                <a:latin typeface="Calibri" panose="020F0502020204030204" pitchFamily="34" charset="0"/>
              </a:rPr>
              <a:t>Research Question</a:t>
            </a:r>
            <a:endParaRPr lang="en-US" sz="14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0600" y="21844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smtClean="0">
                <a:solidFill>
                  <a:srgbClr val="1C1C24"/>
                </a:solidFill>
                <a:latin typeface="Calibri" panose="020F0502020204030204" pitchFamily="34" charset="0"/>
              </a:rPr>
              <a:t>What made irony and humor an effective register for political resistance in the NEET-UG 2026 protests, rather than undermining the protest's seriousness?</a:t>
            </a:r>
            <a:endParaRPr lang="en-US" sz="15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2000" y="3022600"/>
            <a:ext cx="50800" cy="812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90600" y="3022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smtClean="0">
                <a:solidFill>
                  <a:srgbClr val="C82634"/>
                </a:solidFill>
                <a:latin typeface="Calibri" panose="020F0502020204030204" pitchFamily="34" charset="0"/>
              </a:rPr>
              <a:t>Thesis</a:t>
            </a:r>
            <a:endParaRPr lang="en-US" sz="14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0600" y="3302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smtClean="0">
                <a:solidFill>
                  <a:srgbClr val="1C1C24"/>
                </a:solidFill>
                <a:latin typeface="Calibri" panose="020F0502020204030204" pitchFamily="34" charset="0"/>
              </a:rPr>
              <a:t>Memes, reels, and Gen Z slang functioned as a rhetorical mode of political resistance, not decoration around the protest.</a:t>
            </a:r>
            <a:endParaRPr lang="en-US" sz="15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2000" y="4140200"/>
            <a:ext cx="50800" cy="812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0600" y="4140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smtClean="0">
                <a:solidFill>
                  <a:srgbClr val="C82634"/>
                </a:solidFill>
                <a:latin typeface="Calibri" panose="020F0502020204030204" pitchFamily="34" charset="0"/>
              </a:rPr>
              <a:t>Framework</a:t>
            </a:r>
            <a:endParaRPr lang="en-US" sz="14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90600" y="44196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smtClean="0">
                <a:solidFill>
                  <a:srgbClr val="1C1C24"/>
                </a:solidFill>
                <a:latin typeface="Calibri" panose="020F0502020204030204" pitchFamily="34" charset="0"/>
              </a:rPr>
              <a:t>Multimodal discourse analysis (Hakoköngäs, Halmesvaara &amp; Sakki, 2020), adapted to four dimensions: Device · Target · Audience · Function.</a:t>
            </a:r>
            <a:endParaRPr lang="en-US" sz="15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2000" y="5257800"/>
            <a:ext cx="50800" cy="812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90600" y="5257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smtClean="0">
                <a:solidFill>
                  <a:srgbClr val="C82634"/>
                </a:solidFill>
                <a:latin typeface="Calibri" panose="020F0502020204030204" pitchFamily="34" charset="0"/>
              </a:rPr>
              <a:t>Corpus</a:t>
            </a:r>
            <a:endParaRPr lang="en-US" sz="14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90600" y="55372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smtClean="0">
                <a:solidFill>
                  <a:srgbClr val="1C1C24"/>
                </a:solidFill>
                <a:latin typeface="Calibri" panose="020F0502020204030204" pitchFamily="34" charset="0"/>
              </a:rPr>
              <a:t>13 items from Instagram, Pinterest and BBC News (June 6 – July 25, 2026). 7 analysed in detail.</a:t>
            </a:r>
            <a:endParaRPr lang="en-US" sz="15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615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609600"/>
            <a:ext cx="4572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 smtClean="0">
                <a:solidFill>
                  <a:srgbClr val="C82634"/>
                </a:solidFill>
                <a:latin typeface="Calibri" panose="020F0502020204030204" pitchFamily="34" charset="0"/>
              </a:rPr>
              <a:t>METHODOLOGY</a:t>
            </a:r>
            <a:endParaRPr lang="en-US" sz="12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1016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 smtClean="0">
                <a:solidFill>
                  <a:srgbClr val="1C1C24"/>
                </a:solidFill>
                <a:latin typeface="Georgia" panose="02040502050405020303" pitchFamily="18" charset="0"/>
              </a:rPr>
              <a:t>Corpus: 7 of 13 Items Analysed</a:t>
            </a:r>
            <a:endParaRPr lang="en-US" sz="32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21590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800" b="1" smtClean="0">
                <a:solidFill>
                  <a:srgbClr val="C82634"/>
                </a:solidFill>
                <a:latin typeface="Georgia" panose="02040502050405020303" pitchFamily="18" charset="0"/>
              </a:rPr>
              <a:t>7 / 13</a:t>
            </a:r>
            <a:endParaRPr lang="en-US" sz="8800" b="1">
              <a:solidFill>
                <a:srgbClr val="C82634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36830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smtClean="0">
                <a:solidFill>
                  <a:srgbClr val="696973"/>
                </a:solidFill>
                <a:latin typeface="Calibri" panose="020F0502020204030204" pitchFamily="34" charset="0"/>
              </a:rPr>
              <a:t>items analysed in detail along four dimensions, out of 13 collected (Pinterest 9 · Instagram 3 · BBC 1)</a:t>
            </a:r>
            <a:endParaRPr lang="en-US" sz="1500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34000" y="22225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1600" smtClean="0">
                <a:solidFill>
                  <a:srgbClr val="1C1C24"/>
                </a:solidFill>
                <a:latin typeface="Calibri" panose="020F0502020204030204" pitchFamily="34" charset="0"/>
              </a:rPr>
              <a:t>Fig. 1  Spider-Man: "With great power…"</a:t>
            </a:r>
          </a:p>
          <a:p>
            <a:pPr>
              <a:spcAft>
                <a:spcPts val="800"/>
              </a:spcAft>
            </a:pPr>
            <a:r>
              <a:rPr lang="en-US" sz="1600" smtClean="0">
                <a:solidFill>
                  <a:srgbClr val="1C1C24"/>
                </a:solidFill>
                <a:latin typeface="Calibri" panose="020F0502020204030204" pitchFamily="34" charset="0"/>
              </a:rPr>
              <a:t>Fig. 2  "Education &amp; System"</a:t>
            </a:r>
          </a:p>
          <a:p>
            <a:pPr>
              <a:spcAft>
                <a:spcPts val="800"/>
              </a:spcAft>
            </a:pPr>
            <a:r>
              <a:rPr lang="en-US" sz="1600" smtClean="0">
                <a:solidFill>
                  <a:srgbClr val="1C1C24"/>
                </a:solidFill>
                <a:latin typeface="Calibri" panose="020F0502020204030204" pitchFamily="34" charset="0"/>
              </a:rPr>
              <a:t>Fig. 3  Blinkit &amp; Flipkart</a:t>
            </a:r>
          </a:p>
          <a:p>
            <a:pPr>
              <a:spcAft>
                <a:spcPts val="800"/>
              </a:spcAft>
            </a:pPr>
            <a:r>
              <a:rPr lang="en-US" sz="1600" smtClean="0">
                <a:solidFill>
                  <a:srgbClr val="1C1C24"/>
                </a:solidFill>
                <a:latin typeface="Calibri" panose="020F0502020204030204" pitchFamily="34" charset="0"/>
              </a:rPr>
              <a:t>Fig. 4  "Baddies are not apolitical"</a:t>
            </a:r>
          </a:p>
          <a:p>
            <a:pPr>
              <a:spcAft>
                <a:spcPts val="800"/>
              </a:spcAft>
            </a:pPr>
            <a:r>
              <a:rPr lang="en-US" sz="1600" smtClean="0">
                <a:solidFill>
                  <a:srgbClr val="1C1C24"/>
                </a:solidFill>
                <a:latin typeface="Calibri" panose="020F0502020204030204" pitchFamily="34" charset="0"/>
              </a:rPr>
              <a:t>Fig. 5  Error 404: Accountability Not Found</a:t>
            </a:r>
          </a:p>
          <a:p>
            <a:pPr>
              <a:spcAft>
                <a:spcPts val="800"/>
              </a:spcAft>
            </a:pPr>
            <a:r>
              <a:rPr lang="en-US" sz="1600" smtClean="0">
                <a:solidFill>
                  <a:srgbClr val="1C1C24"/>
                </a:solidFill>
                <a:latin typeface="Calibri" panose="020F0502020204030204" pitchFamily="34" charset="0"/>
              </a:rPr>
              <a:t>Fig. 6  Dora: "Kya aapko kahi accountability dikh rahi hai?"</a:t>
            </a:r>
          </a:p>
          <a:p>
            <a:pPr>
              <a:spcAft>
                <a:spcPts val="800"/>
              </a:spcAft>
            </a:pPr>
            <a:r>
              <a:rPr lang="en-US" sz="1600" smtClean="0">
                <a:solidFill>
                  <a:srgbClr val="1C1C24"/>
                </a:solidFill>
                <a:latin typeface="Calibri" panose="020F0502020204030204" pitchFamily="34" charset="0"/>
              </a:rPr>
              <a:t>Fig. 7  "My pad got better leak protection…"</a:t>
            </a:r>
            <a:endParaRPr lang="en-US" sz="16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18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80000" cy="6858000"/>
          </a:xfrm>
          <a:prstGeom prst="rect">
            <a:avLst/>
          </a:prstGeom>
          <a:solidFill>
            <a:srgbClr val="EFE7D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300059"/>
            <a:ext cx="4064000" cy="40038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000" y="62738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i="1" smtClean="0">
                <a:solidFill>
                  <a:srgbClr val="696973"/>
                </a:solidFill>
                <a:latin typeface="Calibri" panose="020F0502020204030204" pitchFamily="34" charset="0"/>
              </a:rPr>
              <a:t>Source: Instagram @chief.of.shitposting</a:t>
            </a:r>
            <a:endParaRPr lang="en-US" sz="1000" i="1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61000" y="508000"/>
            <a:ext cx="4572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461000" y="6604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 smtClean="0">
                <a:solidFill>
                  <a:srgbClr val="C82634"/>
                </a:solidFill>
                <a:latin typeface="Calibri" panose="020F0502020204030204" pitchFamily="34" charset="0"/>
              </a:rPr>
              <a:t>ANALYSIS  ·  FIGURE 2</a:t>
            </a:r>
            <a:endParaRPr lang="en-US" sz="12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61000" y="9398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600" b="1" smtClean="0">
                <a:solidFill>
                  <a:srgbClr val="1C1C24"/>
                </a:solidFill>
                <a:latin typeface="Georgia" panose="02040502050405020303" pitchFamily="18" charset="0"/>
              </a:rPr>
              <a:t>Missing: Education &amp; System</a:t>
            </a:r>
            <a:endParaRPr lang="en-US" sz="26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61000" y="14478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i="1" smtClean="0">
                <a:solidFill>
                  <a:srgbClr val="696973"/>
                </a:solidFill>
                <a:latin typeface="Calibri" panose="020F0502020204030204" pitchFamily="34" charset="0"/>
              </a:rPr>
              <a:t>"The 2 things missing in Education System is EDUCATION &amp; SYSTEM"</a:t>
            </a:r>
            <a:endParaRPr lang="en-US" sz="1300" i="1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61000" y="21082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Device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04000" y="2108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Wordplay + structural irony. A riddle set-up whose punchline is the institution's own name.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61000" y="32258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Target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04000" y="3225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Total systemic failure: not one leak, but an education system that is hollow at its core.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61000" y="43434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Audience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4000" y="4343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In-group gets the "2 things" riddle format instantly; out-group cannot dismiss it, because the joke is literally the accusation.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61000" y="54610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Function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04000" y="5461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Compresses a sweeping critique into one self-evident line. The system is indicted by its own name.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366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80000" cy="6858000"/>
          </a:xfrm>
          <a:prstGeom prst="rect">
            <a:avLst/>
          </a:prstGeom>
          <a:solidFill>
            <a:srgbClr val="EFE7D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592667"/>
            <a:ext cx="4064000" cy="54186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000" y="62738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i="1" smtClean="0">
                <a:solidFill>
                  <a:srgbClr val="696973"/>
                </a:solidFill>
                <a:latin typeface="Calibri" panose="020F0502020204030204" pitchFamily="34" charset="0"/>
              </a:rPr>
              <a:t>Source: Pinterest @yaashnaaaa</a:t>
            </a:r>
            <a:endParaRPr lang="en-US" sz="1000" i="1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61000" y="508000"/>
            <a:ext cx="4572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461000" y="6604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 smtClean="0">
                <a:solidFill>
                  <a:srgbClr val="C82634"/>
                </a:solidFill>
                <a:latin typeface="Calibri" panose="020F0502020204030204" pitchFamily="34" charset="0"/>
              </a:rPr>
              <a:t>ANALYSIS  ·  FIGURE 3</a:t>
            </a:r>
            <a:endParaRPr lang="en-US" sz="12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61000" y="9398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600" b="1" smtClean="0">
                <a:solidFill>
                  <a:srgbClr val="1C1C24"/>
                </a:solidFill>
                <a:latin typeface="Georgia" panose="02040502050405020303" pitchFamily="18" charset="0"/>
              </a:rPr>
              <a:t>Faster Than Your Answers</a:t>
            </a:r>
            <a:endParaRPr lang="en-US" sz="26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61000" y="14478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i="1" smtClean="0">
                <a:solidFill>
                  <a:srgbClr val="696973"/>
                </a:solidFill>
                <a:latin typeface="Calibri" panose="020F0502020204030204" pitchFamily="34" charset="0"/>
              </a:rPr>
              <a:t>"Even Blinkit &amp; Flipkart are faster then your answers"</a:t>
            </a:r>
            <a:endParaRPr lang="en-US" sz="1300" i="1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61000" y="21082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Device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04000" y="2108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Comparative satire + consumer-culture intertextuality (10-minute delivery apps).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61000" y="32258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Target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04000" y="3225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Government and NTA silence and delay in answering students after the leak.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61000" y="43434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Audience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4000" y="4343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Urban Gen Z who order on quick-commerce apps daily; the comparison needs no explanation.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61000" y="54610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Function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04000" y="5461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Measures state accountability against the speed Gen Z expects from everyday life, making official delay look absurd.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175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80000" cy="6858000"/>
          </a:xfrm>
          <a:prstGeom prst="rect">
            <a:avLst/>
          </a:prstGeom>
          <a:solidFill>
            <a:srgbClr val="EFE7D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592667"/>
            <a:ext cx="4064000" cy="54186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000" y="62738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i="1" smtClean="0">
                <a:solidFill>
                  <a:srgbClr val="696973"/>
                </a:solidFill>
                <a:latin typeface="Calibri" panose="020F0502020204030204" pitchFamily="34" charset="0"/>
              </a:rPr>
              <a:t>Source: Pinterest @Lyaaa</a:t>
            </a:r>
            <a:endParaRPr lang="en-US" sz="1000" i="1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61000" y="508000"/>
            <a:ext cx="4572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461000" y="6604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 smtClean="0">
                <a:solidFill>
                  <a:srgbClr val="C82634"/>
                </a:solidFill>
                <a:latin typeface="Calibri" panose="020F0502020204030204" pitchFamily="34" charset="0"/>
              </a:rPr>
              <a:t>ANALYSIS  ·  FIGURE 4</a:t>
            </a:r>
            <a:endParaRPr lang="en-US" sz="12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61000" y="9398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600" b="1" smtClean="0">
                <a:solidFill>
                  <a:srgbClr val="1C1C24"/>
                </a:solidFill>
                <a:latin typeface="Georgia" panose="02040502050405020303" pitchFamily="18" charset="0"/>
              </a:rPr>
              <a:t>Baddies Are Not Apolitical</a:t>
            </a:r>
            <a:endParaRPr lang="en-US" sz="26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61000" y="14478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i="1" smtClean="0">
                <a:solidFill>
                  <a:srgbClr val="696973"/>
                </a:solidFill>
                <a:latin typeface="Calibri" panose="020F0502020204030204" pitchFamily="34" charset="0"/>
              </a:rPr>
              <a:t>"BADDIES ARE NOT APOLITICAL"</a:t>
            </a:r>
            <a:endParaRPr lang="en-US" sz="1300" i="1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61000" y="21082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Device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04000" y="2108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Slang reclamation + subversion of stereotype. "Baddie" = Gen Z slang for a confident, stylish young woman.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61000" y="32258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Target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04000" y="3225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The assumption that Gen Z, especially young women, are unserious and apolitical, which institutions rely on.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61000" y="43434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Audience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4000" y="4343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In-group self-identifies with the label; elders and media are forced to revise their stereotype.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61000" y="54610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Function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04000" y="5461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An identity declaration: the "unserious" label becomes a political stance. The thesis of this project, on a poster.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7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80000" cy="6858000"/>
          </a:xfrm>
          <a:prstGeom prst="rect">
            <a:avLst/>
          </a:prstGeom>
          <a:solidFill>
            <a:srgbClr val="EFE7D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592667"/>
            <a:ext cx="4064000" cy="54186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000" y="62738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i="1" smtClean="0">
                <a:solidFill>
                  <a:srgbClr val="696973"/>
                </a:solidFill>
                <a:latin typeface="Calibri" panose="020F0502020204030204" pitchFamily="34" charset="0"/>
              </a:rPr>
              <a:t>Source: Pinterest @FAGUN</a:t>
            </a:r>
            <a:endParaRPr lang="en-US" sz="1000" i="1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61000" y="508000"/>
            <a:ext cx="4572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461000" y="6604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 smtClean="0">
                <a:solidFill>
                  <a:srgbClr val="C82634"/>
                </a:solidFill>
                <a:latin typeface="Calibri" panose="020F0502020204030204" pitchFamily="34" charset="0"/>
              </a:rPr>
              <a:t>ANALYSIS  ·  FIGURE 5</a:t>
            </a:r>
            <a:endParaRPr lang="en-US" sz="12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61000" y="9398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600" b="1" smtClean="0">
                <a:solidFill>
                  <a:srgbClr val="1C1C24"/>
                </a:solidFill>
                <a:latin typeface="Georgia" panose="02040502050405020303" pitchFamily="18" charset="0"/>
              </a:rPr>
              <a:t>Accountability Not Found</a:t>
            </a:r>
            <a:endParaRPr lang="en-US" sz="26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61000" y="14478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i="1" smtClean="0">
                <a:solidFill>
                  <a:srgbClr val="696973"/>
                </a:solidFill>
                <a:latin typeface="Calibri" panose="020F0502020204030204" pitchFamily="34" charset="0"/>
              </a:rPr>
              <a:t>"error 404 — accountability not found"</a:t>
            </a:r>
            <a:endParaRPr lang="en-US" sz="1300" i="1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61000" y="21082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Device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04000" y="2108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Internet/tech intertextuality (the HTTP 404 error page) + deadpan irony; "error 404" written in red.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61000" y="32258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Target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04000" y="3225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Absence of accountability: no minister or agency taking responsibility for the leak.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61000" y="43434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Audience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4000" y="4343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Digitally native Gen Z read "404" instantly; older viewers may miss the reference, marking the generational gap.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61000" y="54610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Function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04000" y="5461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Frames the government as a broken website: the page students need simply does not exist. Visual, compact, shareable.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319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80000" cy="6858000"/>
          </a:xfrm>
          <a:prstGeom prst="rect">
            <a:avLst/>
          </a:prstGeom>
          <a:solidFill>
            <a:srgbClr val="EFE7D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592667"/>
            <a:ext cx="4064000" cy="54186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000" y="62738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i="1" smtClean="0">
                <a:solidFill>
                  <a:srgbClr val="696973"/>
                </a:solidFill>
                <a:latin typeface="Calibri" panose="020F0502020204030204" pitchFamily="34" charset="0"/>
              </a:rPr>
              <a:t>Source: Pinterest @mydearnikes</a:t>
            </a:r>
            <a:endParaRPr lang="en-US" sz="1000" i="1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61000" y="508000"/>
            <a:ext cx="4572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461000" y="6604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 smtClean="0">
                <a:solidFill>
                  <a:srgbClr val="C82634"/>
                </a:solidFill>
                <a:latin typeface="Calibri" panose="020F0502020204030204" pitchFamily="34" charset="0"/>
              </a:rPr>
              <a:t>ANALYSIS  ·  FIGURE 6</a:t>
            </a:r>
            <a:endParaRPr lang="en-US" sz="12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61000" y="9398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600" b="1" smtClean="0">
                <a:solidFill>
                  <a:srgbClr val="1C1C24"/>
                </a:solidFill>
                <a:latin typeface="Georgia" panose="02040502050405020303" pitchFamily="18" charset="0"/>
              </a:rPr>
              <a:t>Dora Asks the Question</a:t>
            </a:r>
            <a:endParaRPr lang="en-US" sz="26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61000" y="14478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i="1" smtClean="0">
                <a:solidFill>
                  <a:srgbClr val="696973"/>
                </a:solidFill>
                <a:latin typeface="Calibri" panose="020F0502020204030204" pitchFamily="34" charset="0"/>
              </a:rPr>
              <a:t>"Kya aapko kahi accountability dikh rahi hai?"  (Do you see accountability anywhere?)</a:t>
            </a:r>
            <a:endParaRPr lang="en-US" sz="1300" i="1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61000" y="21082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Device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04000" y="2108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Parody of Dora the Explorer's Hindi-dubbed catchphrase + childhood nostalgia + Hinglish.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61000" y="32258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Target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04000" y="3225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Invisible accountability: the government's evasion after the NEET-UG leak.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61000" y="43434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Audience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4000" y="4343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Gen Z raised on Hindi-dubbed Dora; the call-and-response format pulls the viewer into answering.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61000" y="54610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Function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04000" y="5461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Turns the audience into participants. The answer, "No!", is the protest, and it treats official evasion like a children's game.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65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80000" cy="6858000"/>
          </a:xfrm>
          <a:prstGeom prst="rect">
            <a:avLst/>
          </a:prstGeom>
          <a:solidFill>
            <a:srgbClr val="EFE7D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592667"/>
            <a:ext cx="4064000" cy="54186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000" y="62738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000" i="1" smtClean="0">
                <a:solidFill>
                  <a:srgbClr val="696973"/>
                </a:solidFill>
                <a:latin typeface="Calibri" panose="020F0502020204030204" pitchFamily="34" charset="0"/>
              </a:rPr>
              <a:t>Source: Pinterest @Spring potato</a:t>
            </a:r>
            <a:endParaRPr lang="en-US" sz="1000" i="1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61000" y="508000"/>
            <a:ext cx="4572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461000" y="6604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 smtClean="0">
                <a:solidFill>
                  <a:srgbClr val="C82634"/>
                </a:solidFill>
                <a:latin typeface="Calibri" panose="020F0502020204030204" pitchFamily="34" charset="0"/>
              </a:rPr>
              <a:t>ANALYSIS  ·  FIGURE 7</a:t>
            </a:r>
            <a:endParaRPr lang="en-US" sz="12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61000" y="9398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600" b="1" smtClean="0">
                <a:solidFill>
                  <a:srgbClr val="1C1C24"/>
                </a:solidFill>
                <a:latin typeface="Georgia" panose="02040502050405020303" pitchFamily="18" charset="0"/>
              </a:rPr>
              <a:t>Better Leak Protection</a:t>
            </a:r>
            <a:endParaRPr lang="en-US" sz="26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61000" y="1447800"/>
            <a:ext cx="635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i="1" smtClean="0">
                <a:solidFill>
                  <a:srgbClr val="696973"/>
                </a:solidFill>
                <a:latin typeface="Calibri" panose="020F0502020204030204" pitchFamily="34" charset="0"/>
              </a:rPr>
              <a:t>"My pad got better leak protection than Education System"</a:t>
            </a:r>
            <a:endParaRPr lang="en-US" sz="1300" i="1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61000" y="21082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Device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04000" y="21082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Pun on "leak" + parody of sanitary-pad advertising + dark humor that breaks the taboo around menstruation.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61000" y="32258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Target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04000" y="32258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The NEET-UG paper leak and the failure of exam security.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61000" y="43434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Audience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04000" y="43434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Young women as in-group; the out-group is jolted by a taboo subject made public.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61000" y="54610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smtClean="0">
                <a:solidFill>
                  <a:srgbClr val="C82634"/>
                </a:solidFill>
                <a:latin typeface="Calibri" panose="020F0502020204030204" pitchFamily="34" charset="0"/>
              </a:rPr>
              <a:t>Function</a:t>
            </a:r>
            <a:endParaRPr lang="en-US" sz="13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04000" y="5461000"/>
            <a:ext cx="508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smtClean="0">
                <a:solidFill>
                  <a:srgbClr val="1C1C24"/>
                </a:solidFill>
                <a:latin typeface="Calibri" panose="020F0502020204030204" pitchFamily="34" charset="0"/>
              </a:rPr>
              <a:t>Shock + humor = memorable. An everyday product outperforms a national system, a comparison formal language could never make.</a:t>
            </a:r>
            <a:endParaRPr lang="en-US" sz="13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770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609600"/>
            <a:ext cx="4572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 smtClean="0">
                <a:solidFill>
                  <a:srgbClr val="C82634"/>
                </a:solidFill>
                <a:latin typeface="Calibri" panose="020F0502020204030204" pitchFamily="34" charset="0"/>
              </a:rPr>
              <a:t>EMERGING PATTERNS</a:t>
            </a:r>
            <a:endParaRPr lang="en-US" sz="12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1016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 smtClean="0">
                <a:solidFill>
                  <a:srgbClr val="1C1C24"/>
                </a:solidFill>
                <a:latin typeface="Georgia" panose="02040502050405020303" pitchFamily="18" charset="0"/>
              </a:rPr>
              <a:t>Four Patterns Across the Seven Posters</a:t>
            </a:r>
            <a:endParaRPr lang="en-US" sz="32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2000" y="2032000"/>
            <a:ext cx="25400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0" y="2260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 smtClean="0">
                <a:solidFill>
                  <a:srgbClr val="1C1C24"/>
                </a:solidFill>
                <a:latin typeface="Georgia" panose="02040502050405020303" pitchFamily="18" charset="0"/>
              </a:rPr>
              <a:t>Borrowed Formats</a:t>
            </a:r>
            <a:endParaRPr lang="en-US" sz="17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2997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96973"/>
                </a:solidFill>
                <a:latin typeface="Calibri" panose="020F0502020204030204" pitchFamily="34" charset="0"/>
              </a:rPr>
              <a:t>Marvel, Dora, delivery apps, 404 pages, pad ads. Familiar culture carries the critique.</a:t>
            </a:r>
            <a:endParaRPr lang="en-US" sz="1400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92500" y="2032000"/>
            <a:ext cx="25400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492500" y="2260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 smtClean="0">
                <a:solidFill>
                  <a:srgbClr val="1C1C24"/>
                </a:solidFill>
                <a:latin typeface="Georgia" panose="02040502050405020303" pitchFamily="18" charset="0"/>
              </a:rPr>
              <a:t>Comparison as Accusation</a:t>
            </a:r>
            <a:endParaRPr lang="en-US" sz="17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92500" y="2997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96973"/>
                </a:solidFill>
                <a:latin typeface="Calibri" panose="020F0502020204030204" pitchFamily="34" charset="0"/>
              </a:rPr>
              <a:t>Blinkit and a sanitary pad outperform the State. The absurdity is the argument.</a:t>
            </a:r>
            <a:endParaRPr lang="en-US" sz="1400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23000" y="2032000"/>
            <a:ext cx="25400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223000" y="2260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 smtClean="0">
                <a:solidFill>
                  <a:srgbClr val="1C1C24"/>
                </a:solidFill>
                <a:latin typeface="Georgia" panose="02040502050405020303" pitchFamily="18" charset="0"/>
              </a:rPr>
              <a:t>Reclaimed Identity</a:t>
            </a:r>
            <a:endParaRPr lang="en-US" sz="17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23000" y="2997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96973"/>
                </a:solidFill>
                <a:latin typeface="Calibri" panose="020F0502020204030204" pitchFamily="34" charset="0"/>
              </a:rPr>
              <a:t>"Baddies are not apolitical": the "unserious" label becomes political.</a:t>
            </a:r>
            <a:endParaRPr lang="en-US" sz="1400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953500" y="2032000"/>
            <a:ext cx="25400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8953500" y="2260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 smtClean="0">
                <a:solidFill>
                  <a:srgbClr val="1C1C24"/>
                </a:solidFill>
                <a:latin typeface="Georgia" panose="02040502050405020303" pitchFamily="18" charset="0"/>
              </a:rPr>
              <a:t>One Shared Target</a:t>
            </a:r>
            <a:endParaRPr lang="en-US" sz="17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53500" y="2997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96973"/>
                </a:solidFill>
                <a:latin typeface="Calibri" panose="020F0502020204030204" pitchFamily="34" charset="0"/>
              </a:rPr>
              <a:t>Every item, whatever the joke, points back to one demand: accountability.</a:t>
            </a:r>
            <a:endParaRPr lang="en-US" sz="1400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993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609600"/>
            <a:ext cx="4572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 smtClean="0">
                <a:solidFill>
                  <a:srgbClr val="C82634"/>
                </a:solidFill>
                <a:latin typeface="Calibri" panose="020F0502020204030204" pitchFamily="34" charset="0"/>
              </a:rPr>
              <a:t>RECOMMENDATIONS</a:t>
            </a:r>
            <a:endParaRPr lang="en-US" sz="12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1016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 smtClean="0">
                <a:solidFill>
                  <a:srgbClr val="1C1C24"/>
                </a:solidFill>
                <a:latin typeface="Georgia" panose="02040502050405020303" pitchFamily="18" charset="0"/>
              </a:rPr>
              <a:t>Suggestions &amp; Further Research</a:t>
            </a:r>
            <a:endParaRPr lang="en-US" sz="32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20320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smtClean="0">
                <a:solidFill>
                  <a:srgbClr val="C82634"/>
                </a:solidFill>
                <a:latin typeface="Georgia" panose="02040502050405020303" pitchFamily="18" charset="0"/>
              </a:rPr>
              <a:t>01</a:t>
            </a:r>
            <a:endParaRPr lang="en-US" sz="3000" b="1">
              <a:solidFill>
                <a:srgbClr val="C82634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78000" y="2032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 smtClean="0">
                <a:solidFill>
                  <a:srgbClr val="1C1C24"/>
                </a:solidFill>
                <a:latin typeface="Calibri" panose="020F0502020204030204" pitchFamily="34" charset="0"/>
              </a:rPr>
              <a:t>Institutions</a:t>
            </a:r>
            <a:endParaRPr lang="en-US" b="1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78000" y="2362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96973"/>
                </a:solidFill>
                <a:latin typeface="Calibri" panose="020F0502020204030204" pitchFamily="34" charset="0"/>
              </a:rPr>
              <a:t>Treat memes as political expression, not disrespect. Secure exams and answer students quickly.</a:t>
            </a:r>
            <a:endParaRPr lang="en-US" sz="1400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30226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smtClean="0">
                <a:solidFill>
                  <a:srgbClr val="C82634"/>
                </a:solidFill>
                <a:latin typeface="Georgia" panose="02040502050405020303" pitchFamily="18" charset="0"/>
              </a:rPr>
              <a:t>02</a:t>
            </a:r>
            <a:endParaRPr lang="en-US" sz="3000" b="1">
              <a:solidFill>
                <a:srgbClr val="C82634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78000" y="30226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 smtClean="0">
                <a:solidFill>
                  <a:srgbClr val="1C1C24"/>
                </a:solidFill>
                <a:latin typeface="Calibri" panose="020F0502020204030204" pitchFamily="34" charset="0"/>
              </a:rPr>
              <a:t>Media &amp; Older Generations</a:t>
            </a:r>
            <a:endParaRPr lang="en-US" b="1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78000" y="33528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96973"/>
                </a:solidFill>
                <a:latin typeface="Calibri" panose="020F0502020204030204" pitchFamily="34" charset="0"/>
              </a:rPr>
              <a:t>Engage with Gen Z’s language. Getting the reference is the first step to getting the demand.</a:t>
            </a:r>
            <a:endParaRPr lang="en-US" sz="1400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2000" y="40132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smtClean="0">
                <a:solidFill>
                  <a:srgbClr val="C82634"/>
                </a:solidFill>
                <a:latin typeface="Georgia" panose="02040502050405020303" pitchFamily="18" charset="0"/>
              </a:rPr>
              <a:t>03</a:t>
            </a:r>
            <a:endParaRPr lang="en-US" sz="3000" b="1">
              <a:solidFill>
                <a:srgbClr val="C82634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78000" y="4013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 smtClean="0">
                <a:solidFill>
                  <a:srgbClr val="1C1C24"/>
                </a:solidFill>
                <a:latin typeface="Calibri" panose="020F0502020204030204" pitchFamily="34" charset="0"/>
              </a:rPr>
              <a:t>Educators</a:t>
            </a:r>
            <a:endParaRPr lang="en-US" b="1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78000" y="43434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96973"/>
                </a:solidFill>
                <a:latin typeface="Calibri" panose="020F0502020204030204" pitchFamily="34" charset="0"/>
              </a:rPr>
              <a:t>Study memes and protest posters as living satire; use multimodal analysis for media literacy.</a:t>
            </a:r>
            <a:endParaRPr lang="en-US" sz="1400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0" y="50038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smtClean="0">
                <a:solidFill>
                  <a:srgbClr val="C82634"/>
                </a:solidFill>
                <a:latin typeface="Georgia" panose="02040502050405020303" pitchFamily="18" charset="0"/>
              </a:rPr>
              <a:t>04</a:t>
            </a:r>
            <a:endParaRPr lang="en-US" sz="3000" b="1">
              <a:solidFill>
                <a:srgbClr val="C82634"/>
              </a:solidFill>
              <a:latin typeface="Georgia" panose="02040502050405020303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78000" y="50038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 smtClean="0">
                <a:solidFill>
                  <a:srgbClr val="1C1C24"/>
                </a:solidFill>
                <a:latin typeface="Calibri" panose="020F0502020204030204" pitchFamily="34" charset="0"/>
              </a:rPr>
              <a:t>Further Research</a:t>
            </a:r>
            <a:endParaRPr lang="en-US" b="1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78000" y="5334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96973"/>
                </a:solidFill>
                <a:latin typeface="Calibri" panose="020F0502020204030204" pitchFamily="34" charset="0"/>
              </a:rPr>
              <a:t>Analyse the remaining 6 items, reels, chants and CJP’s content; compare with Gen Z protests elsewhere.</a:t>
            </a:r>
            <a:endParaRPr lang="en-US" sz="1400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2000" y="6096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dirty="0" smtClean="0">
                <a:solidFill>
                  <a:srgbClr val="C82634"/>
                </a:solidFill>
                <a:latin typeface="Calibri" panose="020F0502020204030204" pitchFamily="34" charset="0"/>
              </a:rPr>
              <a:t>Limitation: 7 of 13 items analysed in detail, so the findings are interpretive, not statistical.</a:t>
            </a:r>
            <a:r>
              <a:rPr lang="en-US" sz="1300" b="1" dirty="0" smtClean="0">
                <a:solidFill>
                  <a:srgbClr val="C82634"/>
                </a:solidFill>
                <a:latin typeface="Calibri" panose="020F0502020204030204" pitchFamily="34" charset="0"/>
              </a:rPr>
              <a:t/>
            </a:r>
            <a:r>
              <a:rPr lang="en-US" sz="1300" b="1" dirty="0" smtClean="0">
                <a:solidFill>
                  <a:srgbClr val="C82634"/>
                </a:solidFill>
                <a:latin typeface="Calibri" panose="020F0502020204030204" pitchFamily="34" charset="0"/>
              </a:rPr>
              <a:t/>
            </a:r>
            <a:endParaRPr lang="en-US" sz="1300" b="1" dirty="0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241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413000"/>
            <a:ext cx="762000" cy="635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2667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5400" b="1" smtClean="0">
                <a:solidFill>
                  <a:srgbClr val="FFFFFF"/>
                </a:solidFill>
                <a:latin typeface="Georgia" panose="02040502050405020303" pitchFamily="18" charset="0"/>
              </a:rPr>
              <a:t>Thank You</a:t>
            </a:r>
            <a:endParaRPr lang="en-US" sz="54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3810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i="1" smtClean="0">
                <a:solidFill>
                  <a:srgbClr val="E6C8C8"/>
                </a:solidFill>
                <a:latin typeface="Calibri" panose="020F0502020204030204" pitchFamily="34" charset="0"/>
              </a:rPr>
              <a:t>The unserious generation speaks seriously,</a:t>
            </a:r>
          </a:p>
          <a:p>
            <a:r>
              <a:rPr lang="en-US" i="1" smtClean="0">
                <a:solidFill>
                  <a:srgbClr val="E6C8C8"/>
                </a:solidFill>
                <a:latin typeface="Calibri" panose="020F0502020204030204" pitchFamily="34" charset="0"/>
              </a:rPr>
              <a:t>through the language they know best.</a:t>
            </a:r>
            <a:endParaRPr lang="en-US" i="1">
              <a:solidFill>
                <a:srgbClr val="E6C8C8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5969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smtClean="0">
                <a:solidFill>
                  <a:srgbClr val="AAAAB4"/>
                </a:solidFill>
                <a:latin typeface="Calibri" panose="020F0502020204030204" pitchFamily="34" charset="0"/>
              </a:rPr>
              <a:t>Gatha Kalpana Vijay  ·  SYBA English Literature  ·  October 2026</a:t>
            </a:r>
            <a:endParaRPr lang="en-US" sz="1200">
              <a:solidFill>
                <a:srgbClr val="AAAAB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855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609600"/>
            <a:ext cx="4572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 smtClean="0">
                <a:solidFill>
                  <a:srgbClr val="C82634"/>
                </a:solidFill>
                <a:latin typeface="Calibri" panose="020F0502020204030204" pitchFamily="34" charset="0"/>
              </a:rPr>
              <a:t>CONTEXT</a:t>
            </a:r>
            <a:endParaRPr lang="en-US" sz="12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1016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 smtClean="0">
                <a:solidFill>
                  <a:srgbClr val="1C1C24"/>
                </a:solidFill>
                <a:latin typeface="Georgia" panose="02040502050405020303" pitchFamily="18" charset="0"/>
              </a:rPr>
              <a:t>The NEET-UG 2026 Protests</a:t>
            </a:r>
            <a:endParaRPr lang="en-US" sz="32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20320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smtClean="0">
                <a:solidFill>
                  <a:srgbClr val="C82634"/>
                </a:solidFill>
                <a:latin typeface="Georgia" panose="02040502050405020303" pitchFamily="18" charset="0"/>
              </a:rPr>
              <a:t>01</a:t>
            </a:r>
            <a:endParaRPr lang="en-US" sz="3000" b="1">
              <a:solidFill>
                <a:srgbClr val="C82634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78000" y="2032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 smtClean="0">
                <a:solidFill>
                  <a:srgbClr val="1C1C24"/>
                </a:solidFill>
                <a:latin typeface="Calibri" panose="020F0502020204030204" pitchFamily="34" charset="0"/>
              </a:rPr>
              <a:t>June 6: Protests begin at Jantar Mantar, New Delhi</a:t>
            </a:r>
            <a:endParaRPr lang="en-US" b="1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78000" y="2362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96973"/>
                </a:solidFill>
                <a:latin typeface="Calibri" panose="020F0502020204030204" pitchFamily="34" charset="0"/>
              </a:rPr>
              <a:t>Led by the Cockroach Janta Party (CJP) and student groups, demanding accountability.</a:t>
            </a:r>
            <a:endParaRPr lang="en-US" sz="1400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30226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smtClean="0">
                <a:solidFill>
                  <a:srgbClr val="C82634"/>
                </a:solidFill>
                <a:latin typeface="Georgia" panose="02040502050405020303" pitchFamily="18" charset="0"/>
              </a:rPr>
              <a:t>02</a:t>
            </a:r>
            <a:endParaRPr lang="en-US" sz="3000" b="1">
              <a:solidFill>
                <a:srgbClr val="C82634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78000" y="30226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 smtClean="0">
                <a:solidFill>
                  <a:srgbClr val="1C1C24"/>
                </a:solidFill>
                <a:latin typeface="Calibri" panose="020F0502020204030204" pitchFamily="34" charset="0"/>
              </a:rPr>
              <a:t>June 28: Sonam Wangchuk joins and begins a hunger strike</a:t>
            </a:r>
            <a:endParaRPr lang="en-US" b="1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78000" y="33528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96973"/>
                </a:solidFill>
                <a:latin typeface="Calibri" panose="020F0502020204030204" pitchFamily="34" charset="0"/>
              </a:rPr>
              <a:t>Alongside six AISA student activists. Police removed him from the site on July 18.</a:t>
            </a:r>
            <a:endParaRPr lang="en-US" sz="1400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2000" y="40132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smtClean="0">
                <a:solidFill>
                  <a:srgbClr val="C82634"/>
                </a:solidFill>
                <a:latin typeface="Georgia" panose="02040502050405020303" pitchFamily="18" charset="0"/>
              </a:rPr>
              <a:t>03</a:t>
            </a:r>
            <a:endParaRPr lang="en-US" sz="3000" b="1">
              <a:solidFill>
                <a:srgbClr val="C82634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78000" y="4013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 smtClean="0">
                <a:solidFill>
                  <a:srgbClr val="1C1C24"/>
                </a:solidFill>
                <a:latin typeface="Calibri" panose="020F0502020204030204" pitchFamily="34" charset="0"/>
              </a:rPr>
              <a:t>July 20: ‘Sansad Chalo’, the march to Parliament</a:t>
            </a:r>
            <a:endParaRPr lang="en-US" b="1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78000" y="43434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96973"/>
                </a:solidFill>
                <a:latin typeface="Calibri" panose="020F0502020204030204" pitchFamily="34" charset="0"/>
              </a:rPr>
              <a:t>Violent clashes with security forces. By July 23 the protests spread to Tamil Nadu, Kerala and more.</a:t>
            </a:r>
            <a:endParaRPr lang="en-US" sz="1400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0" y="50038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smtClean="0">
                <a:solidFill>
                  <a:srgbClr val="C82634"/>
                </a:solidFill>
                <a:latin typeface="Georgia" panose="02040502050405020303" pitchFamily="18" charset="0"/>
              </a:rPr>
              <a:t>04</a:t>
            </a:r>
            <a:endParaRPr lang="en-US" sz="3000" b="1">
              <a:solidFill>
                <a:srgbClr val="C82634"/>
              </a:solidFill>
              <a:latin typeface="Georgia" panose="02040502050405020303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78000" y="50038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 smtClean="0">
                <a:solidFill>
                  <a:srgbClr val="1C1C24"/>
                </a:solidFill>
                <a:latin typeface="Calibri" panose="020F0502020204030204" pitchFamily="34" charset="0"/>
              </a:rPr>
              <a:t>July 25: Education Minister Dharmendra Pradhan resigns</a:t>
            </a:r>
            <a:endParaRPr lang="en-US" b="1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78000" y="5334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96973"/>
                </a:solidFill>
                <a:latin typeface="Calibri" panose="020F0502020204030204" pitchFamily="34" charset="0"/>
              </a:rPr>
              <a:t>Seven weeks after the first demonstration at Jantar Mantar.</a:t>
            </a:r>
            <a:endParaRPr lang="en-US" sz="1400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2000" y="6096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dirty="0" smtClean="0">
                <a:solidFill>
                  <a:srgbClr val="C82634"/>
                </a:solidFill>
                <a:latin typeface="Calibri" panose="020F0502020204030204" pitchFamily="34" charset="0"/>
              </a:rPr>
              <a:t>Demands: accountability, the minister’s resignation, and relief for families of students lost to exam-related suicide.</a:t>
            </a:r>
            <a:r>
              <a:rPr lang="en-US" sz="1300" b="1" dirty="0" smtClean="0">
                <a:solidFill>
                  <a:srgbClr val="C82634"/>
                </a:solidFill>
                <a:latin typeface="Calibri" panose="020F0502020204030204" pitchFamily="34" charset="0"/>
              </a:rPr>
              <a:t/>
            </a:r>
            <a:r>
              <a:rPr lang="en-US" sz="1300" b="1" dirty="0" smtClean="0">
                <a:solidFill>
                  <a:srgbClr val="C82634"/>
                </a:solidFill>
                <a:latin typeface="Calibri" panose="020F0502020204030204" pitchFamily="34" charset="0"/>
              </a:rPr>
              <a:t/>
            </a:r>
            <a:endParaRPr lang="en-US" sz="1300" b="1" dirty="0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241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609600"/>
            <a:ext cx="4572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 smtClean="0">
                <a:solidFill>
                  <a:srgbClr val="C82634"/>
                </a:solidFill>
                <a:latin typeface="Calibri" panose="020F0502020204030204" pitchFamily="34" charset="0"/>
              </a:rPr>
              <a:t>CONCLUSION</a:t>
            </a:r>
            <a:endParaRPr lang="en-US" sz="12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1016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 smtClean="0">
                <a:solidFill>
                  <a:srgbClr val="1C1C24"/>
                </a:solidFill>
                <a:latin typeface="Georgia" panose="02040502050405020303" pitchFamily="18" charset="0"/>
              </a:rPr>
              <a:t>Humor Carried the Protest</a:t>
            </a:r>
            <a:endParaRPr lang="en-US" sz="32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20320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smtClean="0">
                <a:solidFill>
                  <a:srgbClr val="C82634"/>
                </a:solidFill>
                <a:latin typeface="Georgia" panose="02040502050405020303" pitchFamily="18" charset="0"/>
              </a:rPr>
              <a:t>01</a:t>
            </a:r>
            <a:endParaRPr lang="en-US" sz="3000" b="1">
              <a:solidFill>
                <a:srgbClr val="C82634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78000" y="2032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 smtClean="0">
                <a:solidFill>
                  <a:srgbClr val="1C1C24"/>
                </a:solidFill>
                <a:latin typeface="Calibri" panose="020F0502020204030204" pitchFamily="34" charset="0"/>
              </a:rPr>
              <a:t>Irony</a:t>
            </a:r>
            <a:endParaRPr lang="en-US" b="1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78000" y="2362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96973"/>
                </a:solidFill>
                <a:latin typeface="Calibri" panose="020F0502020204030204" pitchFamily="34" charset="0"/>
              </a:rPr>
              <a:t>Said one thing and meant another, leaving Gen Z to complete the meaning.</a:t>
            </a:r>
            <a:endParaRPr lang="en-US" sz="1400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30226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smtClean="0">
                <a:solidFill>
                  <a:srgbClr val="C82634"/>
                </a:solidFill>
                <a:latin typeface="Georgia" panose="02040502050405020303" pitchFamily="18" charset="0"/>
              </a:rPr>
              <a:t>02</a:t>
            </a:r>
            <a:endParaRPr lang="en-US" sz="3000" b="1">
              <a:solidFill>
                <a:srgbClr val="C82634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78000" y="30226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 smtClean="0">
                <a:solidFill>
                  <a:srgbClr val="1C1C24"/>
                </a:solidFill>
                <a:latin typeface="Calibri" panose="020F0502020204030204" pitchFamily="34" charset="0"/>
              </a:rPr>
              <a:t>Parody &amp; Intertextuality</a:t>
            </a:r>
            <a:endParaRPr lang="en-US" b="1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78000" y="33528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96973"/>
                </a:solidFill>
                <a:latin typeface="Calibri" panose="020F0502020204030204" pitchFamily="34" charset="0"/>
              </a:rPr>
              <a:t>Borrowed what everyone already knew and turned it against the government.</a:t>
            </a:r>
            <a:endParaRPr lang="en-US" sz="1400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2000" y="40132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smtClean="0">
                <a:solidFill>
                  <a:srgbClr val="C82634"/>
                </a:solidFill>
                <a:latin typeface="Georgia" panose="02040502050405020303" pitchFamily="18" charset="0"/>
              </a:rPr>
              <a:t>03</a:t>
            </a:r>
            <a:endParaRPr lang="en-US" sz="3000" b="1">
              <a:solidFill>
                <a:srgbClr val="C82634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78000" y="40132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 smtClean="0">
                <a:solidFill>
                  <a:srgbClr val="1C1C24"/>
                </a:solidFill>
                <a:latin typeface="Calibri" panose="020F0502020204030204" pitchFamily="34" charset="0"/>
              </a:rPr>
              <a:t>Wordplay &amp; Comparison</a:t>
            </a:r>
            <a:endParaRPr lang="en-US" b="1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78000" y="43434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96973"/>
                </a:solidFill>
                <a:latin typeface="Calibri" panose="020F0502020204030204" pitchFamily="34" charset="0"/>
              </a:rPr>
              <a:t>Made institutional failure look so absurd that it was hard to defend.</a:t>
            </a:r>
            <a:endParaRPr lang="en-US" sz="1400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0" y="50038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smtClean="0">
                <a:solidFill>
                  <a:srgbClr val="C82634"/>
                </a:solidFill>
                <a:latin typeface="Georgia" panose="02040502050405020303" pitchFamily="18" charset="0"/>
              </a:rPr>
              <a:t>04</a:t>
            </a:r>
            <a:endParaRPr lang="en-US" sz="3000" b="1">
              <a:solidFill>
                <a:srgbClr val="C82634"/>
              </a:solidFill>
              <a:latin typeface="Georgia" panose="02040502050405020303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78000" y="50038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 smtClean="0">
                <a:solidFill>
                  <a:srgbClr val="1C1C24"/>
                </a:solidFill>
                <a:latin typeface="Calibri" panose="020F0502020204030204" pitchFamily="34" charset="0"/>
              </a:rPr>
              <a:t>Slang</a:t>
            </a:r>
            <a:endParaRPr lang="en-US" b="1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78000" y="53340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96973"/>
                </a:solidFill>
                <a:latin typeface="Calibri" panose="020F0502020204030204" pitchFamily="34" charset="0"/>
              </a:rPr>
              <a:t>Turned “baddie”, a label used to dismiss Gen Z, into a political identity.</a:t>
            </a:r>
            <a:endParaRPr lang="en-US" sz="1400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2000" y="6096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dirty="0" smtClean="0">
                <a:solidFill>
                  <a:srgbClr val="C82634"/>
                </a:solidFill>
                <a:latin typeface="Calibri" panose="020F0502020204030204" pitchFamily="34" charset="0"/>
              </a:rPr>
              <a:t>Each meme served as a tiny revolution: not decoration around the protest, but a mode of resistance.</a:t>
            </a:r>
            <a:r>
              <a:rPr lang="en-US" sz="1300" b="1" dirty="0" smtClean="0">
                <a:solidFill>
                  <a:srgbClr val="C82634"/>
                </a:solidFill>
                <a:latin typeface="Calibri" panose="020F0502020204030204" pitchFamily="34" charset="0"/>
              </a:rPr>
              <a:t/>
            </a:r>
            <a:r>
              <a:rPr lang="en-US" sz="1300" b="1" dirty="0" smtClean="0">
                <a:solidFill>
                  <a:srgbClr val="C82634"/>
                </a:solidFill>
                <a:latin typeface="Calibri" panose="020F0502020204030204" pitchFamily="34" charset="0"/>
              </a:rPr>
              <a:t/>
            </a:r>
            <a:endParaRPr lang="en-US" sz="1300" b="1" dirty="0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241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609600"/>
            <a:ext cx="4572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 smtClean="0">
                <a:solidFill>
                  <a:srgbClr val="C82634"/>
                </a:solidFill>
                <a:latin typeface="Calibri" panose="020F0502020204030204" pitchFamily="34" charset="0"/>
              </a:rPr>
              <a:t>ANALYSIS  ·  FIGURE 1</a:t>
            </a:r>
            <a:endParaRPr lang="en-US" sz="12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1016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 smtClean="0">
                <a:solidFill>
                  <a:srgbClr val="1C1C24"/>
                </a:solidFill>
                <a:latin typeface="Georgia" panose="02040502050405020303" pitchFamily="18" charset="0"/>
              </a:rPr>
              <a:t>The Spider-Man Moment</a:t>
            </a:r>
            <a:endParaRPr lang="en-US" sz="32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2000" y="1905000"/>
            <a:ext cx="50800" cy="812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90600" y="1905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smtClean="0">
                <a:solidFill>
                  <a:srgbClr val="C82634"/>
                </a:solidFill>
                <a:latin typeface="Calibri" panose="020F0502020204030204" pitchFamily="34" charset="0"/>
              </a:rPr>
              <a:t>Device</a:t>
            </a:r>
            <a:endParaRPr lang="en-US" sz="14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0600" y="21844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smtClean="0">
                <a:solidFill>
                  <a:srgbClr val="1C1C24"/>
                </a:solidFill>
                <a:latin typeface="Calibri" panose="020F0502020204030204" pitchFamily="34" charset="0"/>
              </a:rPr>
              <a:t>Intertextuality + irony + parody. Spider-Man’s moral lesson about power is flipped into an accusation.</a:t>
            </a:r>
            <a:endParaRPr lang="en-US" sz="15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2000" y="3022600"/>
            <a:ext cx="50800" cy="812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90600" y="3022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smtClean="0">
                <a:solidFill>
                  <a:srgbClr val="C82634"/>
                </a:solidFill>
                <a:latin typeface="Calibri" panose="020F0502020204030204" pitchFamily="34" charset="0"/>
              </a:rPr>
              <a:t>Target</a:t>
            </a:r>
            <a:endParaRPr lang="en-US" sz="14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90600" y="33020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smtClean="0">
                <a:solidFill>
                  <a:srgbClr val="1C1C24"/>
                </a:solidFill>
                <a:latin typeface="Calibri" panose="020F0502020204030204" pitchFamily="34" charset="0"/>
              </a:rPr>
              <a:t>A government with power over education policy that failed to act responsibly, especially over the leak.</a:t>
            </a:r>
            <a:endParaRPr lang="en-US" sz="15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2000" y="4140200"/>
            <a:ext cx="50800" cy="812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90600" y="4140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smtClean="0">
                <a:solidFill>
                  <a:srgbClr val="C82634"/>
                </a:solidFill>
                <a:latin typeface="Calibri" panose="020F0502020204030204" pitchFamily="34" charset="0"/>
              </a:rPr>
              <a:t>Audience</a:t>
            </a:r>
            <a:endParaRPr lang="en-US" sz="14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90600" y="44196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smtClean="0">
                <a:solidFill>
                  <a:srgbClr val="1C1C24"/>
                </a:solidFill>
                <a:latin typeface="Calibri" panose="020F0502020204030204" pitchFamily="34" charset="0"/>
              </a:rPr>
              <a:t>Gen Z raised on Marvel get it instantly; officials and older generations may not, which marks the gap.</a:t>
            </a:r>
            <a:endParaRPr lang="en-US" sz="15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62000" y="5257800"/>
            <a:ext cx="50800" cy="812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990600" y="5257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smtClean="0">
                <a:solidFill>
                  <a:srgbClr val="C82634"/>
                </a:solidFill>
                <a:latin typeface="Calibri" panose="020F0502020204030204" pitchFamily="34" charset="0"/>
              </a:rPr>
              <a:t>Function</a:t>
            </a:r>
            <a:endParaRPr lang="en-US" sz="14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90600" y="55372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smtClean="0">
                <a:solidFill>
                  <a:srgbClr val="1C1C24"/>
                </a:solidFill>
                <a:latin typeface="Calibri" panose="020F0502020204030204" pitchFamily="34" charset="0"/>
              </a:rPr>
              <a:t>Power without accountability in one shareable line. ‘Just a joke’, so harder to censor and lower-risk to post.</a:t>
            </a:r>
            <a:endParaRPr lang="en-US" sz="15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  <p:sp>
        <p:nvSpPr>
          <p:cNvPr id="100" name="TextBox 100"/>
          <p:cNvSpPr txBox="1"/>
          <p:nvPr/>
        </p:nvSpPr>
        <p:spPr>
          <a:xfrm>
            <a:off x="762000" y="1500000"/>
            <a:ext cx="10668000" cy="30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i="1" smtClean="0">
                <a:solidFill>
                  <a:srgbClr val="696973"/>
                </a:solidFill>
                <a:latin typeface="Calibri" panose="020F0502020204030204" pitchFamily="34" charset="0"/>
              </a:rPr>
              <a:t>"With great power comes great responsibility. Can’t say the same for the Indian Government."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762000" y="6273800"/>
            <a:ext cx="10668000" cy="30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i="1" smtClean="0">
                <a:solidFill>
                  <a:srgbClr val="696973"/>
                </a:solidFill>
                <a:latin typeface="Calibri" panose="020F0502020204030204" pitchFamily="34" charset="0"/>
              </a:rPr>
              <a:t>Source: Instagram @p9xrider and @p9x_puneet_saxena</a:t>
            </a:r>
          </a:p>
        </p:txBody>
      </p:sp>
    </p:spTree>
    <p:extLst>
      <p:ext uri="{BB962C8B-B14F-4D97-AF65-F5344CB8AC3E}">
        <p14:creationId xmlns:p14="http://schemas.microsoft.com/office/powerpoint/2010/main" val="1123615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609600"/>
            <a:ext cx="4572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 smtClean="0">
                <a:solidFill>
                  <a:srgbClr val="C82634"/>
                </a:solidFill>
                <a:latin typeface="Calibri" panose="020F0502020204030204" pitchFamily="34" charset="0"/>
              </a:rPr>
              <a:t>WHAT HUMOR DID</a:t>
            </a:r>
            <a:endParaRPr lang="en-US" sz="12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1016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 smtClean="0">
                <a:solidFill>
                  <a:srgbClr val="1C1C24"/>
                </a:solidFill>
                <a:latin typeface="Georgia" panose="02040502050405020303" pitchFamily="18" charset="0"/>
              </a:rPr>
              <a:t>Humor as Shield, Sword &amp; Community</a:t>
            </a:r>
            <a:endParaRPr lang="en-US" sz="32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2000" y="2032000"/>
            <a:ext cx="25400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0" y="2260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 smtClean="0">
                <a:solidFill>
                  <a:srgbClr val="1C1C24"/>
                </a:solidFill>
                <a:latin typeface="Georgia" panose="02040502050405020303" pitchFamily="18" charset="0"/>
              </a:rPr>
              <a:t>Shield</a:t>
            </a:r>
            <a:endParaRPr lang="en-US" sz="17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2997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96973"/>
                </a:solidFill>
                <a:latin typeface="Calibri" panose="020F0502020204030204" pitchFamily="34" charset="0"/>
              </a:rPr>
              <a:t>“It’s just a joke”: deniable and harder to censor, while staying completely serious.</a:t>
            </a:r>
            <a:endParaRPr lang="en-US" sz="1400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492500" y="2032000"/>
            <a:ext cx="25400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492500" y="2260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 smtClean="0">
                <a:solidFill>
                  <a:srgbClr val="1C1C24"/>
                </a:solidFill>
                <a:latin typeface="Georgia" panose="02040502050405020303" pitchFamily="18" charset="0"/>
              </a:rPr>
              <a:t>Sword</a:t>
            </a:r>
            <a:endParaRPr lang="en-US" sz="17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92500" y="2997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96973"/>
                </a:solidFill>
                <a:latin typeface="Calibri" panose="020F0502020204030204" pitchFamily="34" charset="0"/>
              </a:rPr>
              <a:t>Says what formal protest language can’t: the State next to a pad, a delivery app, a broken website.</a:t>
            </a:r>
            <a:endParaRPr lang="en-US" sz="1400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23000" y="2032000"/>
            <a:ext cx="25400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223000" y="2260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 smtClean="0">
                <a:solidFill>
                  <a:srgbClr val="1C1C24"/>
                </a:solidFill>
                <a:latin typeface="Georgia" panose="02040502050405020303" pitchFamily="18" charset="0"/>
              </a:rPr>
              <a:t>Community</a:t>
            </a:r>
            <a:endParaRPr lang="en-US" sz="17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23000" y="2997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96973"/>
                </a:solidFill>
                <a:latin typeface="Calibri" panose="020F0502020204030204" pitchFamily="34" charset="0"/>
              </a:rPr>
              <a:t>The “you get it” moment is solidarity. Shared laughter turns individual anger collective.</a:t>
            </a:r>
            <a:endParaRPr lang="en-US" sz="1400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953500" y="2032000"/>
            <a:ext cx="25400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8953500" y="2260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 smtClean="0">
                <a:solidFill>
                  <a:srgbClr val="1C1C24"/>
                </a:solidFill>
                <a:latin typeface="Georgia" panose="02040502050405020303" pitchFamily="18" charset="0"/>
              </a:rPr>
              <a:t>Open to All</a:t>
            </a:r>
            <a:endParaRPr lang="en-US" sz="17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953500" y="2997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smtClean="0">
                <a:solidFill>
                  <a:srgbClr val="696973"/>
                </a:solidFill>
                <a:latin typeface="Calibri" panose="020F0502020204030204" pitchFamily="34" charset="0"/>
              </a:rPr>
              <a:t>No policy expertise needed to make or share a meme. Anyone can join the protest.</a:t>
            </a:r>
            <a:endParaRPr lang="en-US" sz="1400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993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609600"/>
            <a:ext cx="457200" cy="50800"/>
          </a:xfrm>
          <a:prstGeom prst="rect">
            <a:avLst/>
          </a:prstGeom>
          <a:solidFill>
            <a:srgbClr val="C826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762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 smtClean="0">
                <a:solidFill>
                  <a:srgbClr val="C82634"/>
                </a:solidFill>
                <a:latin typeface="Calibri" panose="020F0502020204030204" pitchFamily="34" charset="0"/>
              </a:rPr>
              <a:t>FINDINGS</a:t>
            </a:r>
            <a:endParaRPr lang="en-US" sz="1200" b="1">
              <a:solidFill>
                <a:srgbClr val="C82634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0" y="10160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200" b="1" smtClean="0">
                <a:solidFill>
                  <a:srgbClr val="1C1C24"/>
                </a:solidFill>
                <a:latin typeface="Georgia" panose="02040502050405020303" pitchFamily="18" charset="0"/>
              </a:rPr>
              <a:t>What the Seven Posters Show</a:t>
            </a:r>
            <a:endParaRPr lang="en-US" sz="3200" b="1">
              <a:solidFill>
                <a:srgbClr val="1C1C24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21590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800" b="1" smtClean="0">
                <a:solidFill>
                  <a:srgbClr val="C82634"/>
                </a:solidFill>
                <a:latin typeface="Georgia" panose="02040502050405020303" pitchFamily="18" charset="0"/>
              </a:rPr>
              <a:t>3 / 7</a:t>
            </a:r>
            <a:endParaRPr lang="en-US" sz="8800" b="1">
              <a:solidFill>
                <a:srgbClr val="C82634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36830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smtClean="0">
                <a:solidFill>
                  <a:srgbClr val="696973"/>
                </a:solidFill>
                <a:latin typeface="Calibri" panose="020F0502020204030204" pitchFamily="34" charset="0"/>
              </a:rPr>
              <a:t>posters point straight at missing accountability; the other four hit closely related failures</a:t>
            </a:r>
            <a:endParaRPr lang="en-US" sz="1500">
              <a:solidFill>
                <a:srgbClr val="696973"/>
              </a:solidFill>
              <a:latin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34000" y="2222500"/>
            <a:ext cx="609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1600" smtClean="0">
                <a:solidFill>
                  <a:srgbClr val="1C1C24"/>
                </a:solidFill>
                <a:latin typeface="Calibri" panose="020F0502020204030204" pitchFamily="34" charset="0"/>
              </a:rPr>
              <a:t>Intertextuality, irony, parody: 3 posters each</a:t>
            </a:r>
          </a:p>
          <a:p>
            <a:pPr>
              <a:spcAft>
                <a:spcPts val="800"/>
              </a:spcAft>
            </a:pPr>
            <a:r>
              <a:rPr lang="en-US" sz="1600" smtClean="0">
                <a:solidFill>
                  <a:srgbClr val="1C1C24"/>
                </a:solidFill>
                <a:latin typeface="Calibri" panose="020F0502020204030204" pitchFamily="34" charset="0"/>
              </a:rPr>
              <a:t>Wordplay / pun: 2  ·  satire, slang, dark humor: 1 each</a:t>
            </a:r>
          </a:p>
          <a:p>
            <a:pPr>
              <a:spcAft>
                <a:spcPts val="800"/>
              </a:spcAft>
            </a:pPr>
            <a:r>
              <a:rPr lang="en-US" sz="1600" smtClean="0">
                <a:solidFill>
                  <a:srgbClr val="1C1C24"/>
                </a:solidFill>
                <a:latin typeface="Calibri" panose="020F0502020204030204" pitchFamily="34" charset="0"/>
              </a:rPr>
              <a:t>Most humor is borrowed: Marvel, Dora, Blinkit, 404, ads</a:t>
            </a:r>
          </a:p>
          <a:p>
            <a:pPr>
              <a:spcAft>
                <a:spcPts val="800"/>
              </a:spcAft>
            </a:pPr>
            <a:r>
              <a:rPr lang="en-US" sz="1600" smtClean="0">
                <a:solidFill>
                  <a:srgbClr val="1C1C24"/>
                </a:solidFill>
                <a:latin typeface="Calibri" panose="020F0502020204030204" pitchFamily="34" charset="0"/>
              </a:rPr>
              <a:t>Almost every poster has a dual-layered audience</a:t>
            </a:r>
          </a:p>
          <a:p>
            <a:pPr>
              <a:spcAft>
                <a:spcPts val="800"/>
              </a:spcAft>
            </a:pPr>
            <a:r>
              <a:rPr lang="en-US" sz="1600" smtClean="0">
                <a:solidFill>
                  <a:srgbClr val="1C1C24"/>
                </a:solidFill>
                <a:latin typeface="Calibri" panose="020F0502020204030204" pitchFamily="34" charset="0"/>
              </a:rPr>
              <a:t>Jokes make critique short, shareable and deniable</a:t>
            </a:r>
          </a:p>
          <a:p>
            <a:pPr>
              <a:spcAft>
                <a:spcPts val="800"/>
              </a:spcAft>
            </a:pPr>
            <a:r>
              <a:rPr lang="en-US" sz="1600" smtClean="0">
                <a:solidFill>
                  <a:srgbClr val="1C1C24"/>
                </a:solidFill>
                <a:latin typeface="Calibri" panose="020F0502020204030204" pitchFamily="34" charset="0"/>
              </a:rPr>
              <a:t>No policy expertise needed: anyone can join in</a:t>
            </a:r>
          </a:p>
          <a:p>
            <a:pPr>
              <a:spcAft>
                <a:spcPts val="800"/>
              </a:spcAft>
            </a:pPr>
            <a:r>
              <a:rPr lang="en-US" sz="1600" smtClean="0">
                <a:solidFill>
                  <a:srgbClr val="1C1C24"/>
                </a:solidFill>
                <a:latin typeface="Calibri" panose="020F0502020204030204" pitchFamily="34" charset="0"/>
              </a:rPr>
              <a:t>9 of 13 items circulated on Pinterest</a:t>
            </a:r>
            <a:endParaRPr lang="en-US" sz="1600">
              <a:solidFill>
                <a:srgbClr val="1C1C24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18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1023</Words>
  <Application>Microsoft Office PowerPoint</Application>
  <PresentationFormat>Widescreen</PresentationFormat>
  <Paragraphs>128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2</cp:revision>
  <dcterms:created xsi:type="dcterms:W3CDTF">2026-10-01T04:37:50Z</dcterms:created>
  <dcterms:modified xsi:type="dcterms:W3CDTF">2026-10-01T04:44:33Z</dcterms:modified>
</cp:coreProperties>
</file>