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63" r:id="rId11"/>
    <p:sldId id="264" r:id="rId12"/>
    <p:sldId id="265" r:id="rId13"/>
    <p:sldId id="271" r:id="rId14"/>
    <p:sldId id="272" r:id="rId15"/>
    <p:sldId id="269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872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615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003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538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01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688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2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491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855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889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522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B88C71-823F-46F5-983F-DB5059B7447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57892-2FE1-4460-821F-A5F989199B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73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1905000"/>
            <a:ext cx="762000" cy="635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215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400" b="1" smtClean="0">
                <a:solidFill>
                  <a:srgbClr val="FFFFFF"/>
                </a:solidFill>
                <a:latin typeface="Georgia" panose="02040502050405020303" pitchFamily="18" charset="0"/>
              </a:rPr>
              <a:t>The Unserious Generation</a:t>
            </a:r>
          </a:p>
          <a:p>
            <a:r>
              <a:rPr lang="en-US" sz="4400" b="1" smtClean="0">
                <a:solidFill>
                  <a:srgbClr val="FFFFFF"/>
                </a:solidFill>
                <a:latin typeface="Georgia" panose="02040502050405020303" pitchFamily="18" charset="0"/>
              </a:rPr>
              <a:t>on the Most Serious Topic</a:t>
            </a:r>
            <a:endParaRPr lang="en-US" sz="44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3810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mtClean="0">
                <a:solidFill>
                  <a:srgbClr val="E6C8C8"/>
                </a:solidFill>
                <a:latin typeface="Calibri" panose="020F0502020204030204" pitchFamily="34" charset="0"/>
              </a:rPr>
              <a:t>Field Project  ·  Final Presentation  ·  SYBA English Literature</a:t>
            </a:r>
            <a:endParaRPr lang="en-US">
              <a:solidFill>
                <a:srgbClr val="E6C8C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5080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BEBEC8"/>
                </a:solidFill>
                <a:latin typeface="Calibri" panose="020F0502020204030204" pitchFamily="34" charset="0"/>
              </a:rPr>
              <a:t>Presenter: Gatha Kalpana Vijay  ·  Guide: Prof. Dr. Umesh Jagdale Sir</a:t>
            </a:r>
          </a:p>
          <a:p>
            <a:r>
              <a:rPr lang="en-US" sz="1300" smtClean="0">
                <a:solidFill>
                  <a:srgbClr val="BEBEC8"/>
                </a:solidFill>
                <a:latin typeface="Calibri" panose="020F0502020204030204" pitchFamily="34" charset="0"/>
              </a:rPr>
              <a:t>Sangamner Nagarpalika Arts, D.J. Malpani Commerce and B.N. Sarda Science College (Autonomous)</a:t>
            </a:r>
          </a:p>
          <a:p>
            <a:r>
              <a:rPr lang="en-US" sz="1300" smtClean="0">
                <a:solidFill>
                  <a:srgbClr val="BEBEC8"/>
                </a:solidFill>
                <a:latin typeface="Calibri" panose="020F0502020204030204" pitchFamily="34" charset="0"/>
              </a:rPr>
              <a:t>October 2026</a:t>
            </a:r>
            <a:endParaRPr lang="en-US" sz="1300">
              <a:solidFill>
                <a:srgbClr val="BEBEC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6753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CONTEXT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The NEET-UG 2026 Protests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03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01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78000" y="2032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June 6: Protests begin at Jantar Mantar, New Delhi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780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Led by the Cockroach Janta Party (CJP) and student groups, demanding accountability.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000" y="30226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02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78000" y="3022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June 28: Sonam Wangchuk joins and begins a hunger strike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78000" y="3352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Alongside six AISA student activists. Police removed him from the site on July 18.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2000" y="4013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03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8000" y="4013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July 20: ‘Sansad Chalo’, the march to Parliament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78000" y="4343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Violent clashes with security forces. By July 23 the protests spread to Tamil Nadu, Kerala and more.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2000" y="5003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04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78000" y="5003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July 25: Education Minister Dharmendra Pradhan resigns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78000" y="533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Seven weeks after the first demonstration at Jantar Mantar.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609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 smtClean="0">
                <a:solidFill>
                  <a:srgbClr val="C82634"/>
                </a:solidFill>
                <a:latin typeface="Calibri" panose="020F0502020204030204" pitchFamily="34" charset="0"/>
              </a:rPr>
              <a:t>Demands: accountability, the minister’s resignation, and relief for families of students lost to exam-related suicide.</a:t>
            </a:r>
            <a:endParaRPr lang="en-US" sz="1300" b="1" dirty="0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241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RESEARCH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Research Question &amp; Thesis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2000" y="1905000"/>
            <a:ext cx="50800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90600" y="1905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Research Question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90600" y="2184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What made irony and humor an effective register for political resistance in the NEET-UG 2026 protests, rather than undermining the protest's seriousness?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" y="3022600"/>
            <a:ext cx="50800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0600" y="3022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Thesis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90600" y="33020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Memes, reels, and Gen Z slang functioned as a rhetorical mode of political resistance, not decoration around the protest.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2000" y="4140200"/>
            <a:ext cx="50800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0600" y="4140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Framework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0600" y="44196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Multimodal discourse analysis (Hakoköngäs, Halmesvaara &amp; Sakki, 2020), adapted to four dimensions: Device · Target · Audience · Function.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5257800"/>
            <a:ext cx="50800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90600" y="5257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Corpus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0600" y="5537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7 protest posters from Instagram and Pinterest (June 6 – July 25, 2026), chosen for their rhetorical richness.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361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METHODOLOGY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Corpus: Seven Protest Posters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1590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800" b="1" smtClean="0">
                <a:solidFill>
                  <a:srgbClr val="C82634"/>
                </a:solidFill>
                <a:latin typeface="Georgia" panose="02040502050405020303" pitchFamily="18" charset="0"/>
              </a:rPr>
              <a:t>7</a:t>
            </a:r>
            <a:endParaRPr lang="en-US" sz="88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6830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696973"/>
                </a:solidFill>
                <a:latin typeface="Calibri" panose="020F0502020204030204" pitchFamily="34" charset="0"/>
              </a:rPr>
              <a:t>posters (Pinterest 5 · Instagram 2), each analysed along four dimensions</a:t>
            </a:r>
            <a:endParaRPr lang="en-US" sz="15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34000" y="22225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1  Spider-Man: "With great power…"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2  "Education &amp; System"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3  Blinkit &amp; Flipkart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4  "Baddies are not apolitical"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5  Error 404: Accountability Not Found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6  Dora: "Kya aapko kahi accountability dikh rahi hai?"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Fig. 7  "My pad got better leak protection…"</a:t>
            </a:r>
            <a:endParaRPr lang="en-US" sz="16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18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486400" y="762000"/>
            <a:ext cx="3605561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1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0" y="1016000"/>
            <a:ext cx="594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dirty="0" smtClean="0">
                <a:solidFill>
                  <a:srgbClr val="1C1C24"/>
                </a:solidFill>
                <a:latin typeface="Georgia" panose="02040502050405020303" pitchFamily="18" charset="0"/>
              </a:rPr>
              <a:t>The Spider-Man Moment</a:t>
            </a:r>
            <a:endParaRPr lang="en-US" sz="3200" b="1" dirty="0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22900" y="2032000"/>
            <a:ext cx="45719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715000" y="2032000"/>
            <a:ext cx="120185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15000" y="2311400"/>
            <a:ext cx="492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dirty="0" smtClean="0">
                <a:solidFill>
                  <a:srgbClr val="1C1C24"/>
                </a:solidFill>
                <a:latin typeface="Calibri" panose="020F0502020204030204" pitchFamily="34" charset="0"/>
              </a:rPr>
              <a:t>Intertextuality + irony + parody. Spider-Man’s moral lesson about power is flipped into an accusation.</a:t>
            </a:r>
            <a:endParaRPr lang="en-US" sz="1500" dirty="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422900" y="3149600"/>
            <a:ext cx="45719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715000" y="3149600"/>
            <a:ext cx="120185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715000" y="3429000"/>
            <a:ext cx="492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A government with power over education policy that failed to act responsibly, especially over the leak.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422900" y="4267200"/>
            <a:ext cx="45719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715000" y="4267200"/>
            <a:ext cx="120185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15000" y="4546600"/>
            <a:ext cx="492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Gen Z raised on Marvel get it instantly; officials and older generations may not, which marks the gap.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422900" y="5384800"/>
            <a:ext cx="45719" cy="812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715000" y="5384800"/>
            <a:ext cx="1201854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4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715000" y="5664200"/>
            <a:ext cx="492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1C1C24"/>
                </a:solidFill>
                <a:latin typeface="Calibri" panose="020F0502020204030204" pitchFamily="34" charset="0"/>
              </a:rPr>
              <a:t>Power without accountability in one shareable line. ‘Just a joke’, so harder to censor and lower-risk to post.</a:t>
            </a:r>
            <a:endParaRPr lang="en-US" sz="15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TextBox 100"/>
          <p:cNvSpPr txBox="1"/>
          <p:nvPr/>
        </p:nvSpPr>
        <p:spPr>
          <a:xfrm>
            <a:off x="5486400" y="1500000"/>
            <a:ext cx="5047785" cy="30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"With great power comes great responsibility. Can’t say the same for the Indian Government."</a:t>
            </a:r>
          </a:p>
        </p:txBody>
      </p:sp>
      <p:sp>
        <p:nvSpPr>
          <p:cNvPr id="33" name="TextBox 101"/>
          <p:cNvSpPr txBox="1"/>
          <p:nvPr/>
        </p:nvSpPr>
        <p:spPr>
          <a:xfrm>
            <a:off x="990600" y="6393713"/>
            <a:ext cx="10668000" cy="30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i="1" dirty="0" smtClean="0">
                <a:solidFill>
                  <a:srgbClr val="696973"/>
                </a:solidFill>
                <a:latin typeface="Calibri" panose="020F0502020204030204" pitchFamily="34" charset="0"/>
              </a:rPr>
              <a:t>Source: </a:t>
            </a:r>
            <a:r>
              <a:rPr lang="en-US" sz="1000" i="1" dirty="0" err="1" smtClean="0">
                <a:solidFill>
                  <a:srgbClr val="696973"/>
                </a:solidFill>
                <a:latin typeface="Calibri" panose="020F0502020204030204" pitchFamily="34" charset="0"/>
              </a:rPr>
              <a:t>Instagram</a:t>
            </a:r>
            <a:r>
              <a:rPr lang="en-US" sz="1000" i="1" dirty="0" smtClean="0">
                <a:solidFill>
                  <a:srgbClr val="696973"/>
                </a:solidFill>
                <a:latin typeface="Calibri" panose="020F0502020204030204" pitchFamily="34" charset="0"/>
              </a:rPr>
              <a:t> @p9xrider and @p9x_puneet_saxena</a:t>
            </a: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375" y="959366"/>
            <a:ext cx="3375250" cy="4894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366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300059"/>
            <a:ext cx="4064000" cy="40038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Instagram @chief.of.shitposting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2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Missing: Education &amp; System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"The 2 things missing in Education System is EDUCATION &amp; SYSTEM"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Wordplay + structural irony. A riddle set-up whose punchline is the institution's own name.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Total systemic failure: not one leak, but an education system that is hollow at its core.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In-group gets the "2 things" riddle format instantly; out-group cannot dismiss it, because the joke is literally the accusation.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Compresses a sweeping critique into one self-evident line. The system is indicted by its own name.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90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92667"/>
            <a:ext cx="4064000" cy="5418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Pinterest @yaashnaaaa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3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Faster Than Your Answers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"Even Blinkit &amp; Flipkart are faster then your answers"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Comparative satire + consumer-culture intertextuality (10-minute delivery apps).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Government and NTA silence and delay in answering students after the leak.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Urban Gen Z who order on quick-commerce apps daily; the comparison needs no explanation.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Measures state accountability against the speed Gen Z expects from everyday life, making official delay look absurd.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7175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92667"/>
            <a:ext cx="4064000" cy="5418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Pinterest @Lyaaa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4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Baddies Are Not Apolitical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"BADDIES ARE NOT APOLITICAL"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Slang reclamation + subversion of stereotype. "Baddie" = Gen Z slang for a confident, stylish young woman.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The assumption that Gen Z, especially young women, are unserious and apolitical, which institutions rely on.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In-group self-identifies with the label; elders and media are forced to revise their stereotype.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An identity declaration: the "unserious" label becomes a political stance. The thesis of this project, on a poster.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07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92667"/>
            <a:ext cx="4064000" cy="5418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Pinterest @FAGUN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5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Accountability Not Found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"error 404 — accountability not found"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Internet/tech intertextuality (the HTTP 404 error page) + deadpan irony; "error 404" written in red.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Absence of accountability: no minister or agency taking responsibility for the leak.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Digitally native Gen Z read "404" instantly; older viewers may miss the reference, marking the generational gap.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Frames the government as a broken website: the page students need simply does not exist. Visual, compact, shareable.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319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92667"/>
            <a:ext cx="4064000" cy="5418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Pinterest @mydearnikes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6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Dora Asks the Question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"Kya aapko kahi accountability dikh rahi hai?"  (Do you see accountability anywhere?)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Parody of Dora the Explorer's Hindi-dubbed catchphrase + childhood nostalgia + Hinglish.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Invisible accountability: the government's evasion after the NEET-UG leak.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Gen Z raised on Hindi-dubbed Dora; the call-and-response format pulls the viewer into answering.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Turns the audience into participants. The answer, "No!", is the protest, and it treats official evasion like a children's game.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36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solidFill>
            <a:srgbClr val="EFE7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92667"/>
            <a:ext cx="4064000" cy="5418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6273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i="1" smtClean="0">
                <a:solidFill>
                  <a:srgbClr val="696973"/>
                </a:solidFill>
                <a:latin typeface="Calibri" panose="020F0502020204030204" pitchFamily="34" charset="0"/>
              </a:rPr>
              <a:t>Source: Pinterest @Spring potato</a:t>
            </a:r>
            <a:endParaRPr lang="en-US" sz="10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61000" y="5080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61000" y="6604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ANALYSIS  ·  FIGURE 7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61000" y="939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 b="1" smtClean="0">
                <a:solidFill>
                  <a:srgbClr val="1C1C24"/>
                </a:solidFill>
                <a:latin typeface="Georgia" panose="02040502050405020303" pitchFamily="18" charset="0"/>
              </a:rPr>
              <a:t>Better Leak Protection</a:t>
            </a:r>
            <a:endParaRPr lang="en-US" sz="26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61000" y="14478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i="1" smtClean="0">
                <a:solidFill>
                  <a:srgbClr val="696973"/>
                </a:solidFill>
                <a:latin typeface="Calibri" panose="020F0502020204030204" pitchFamily="34" charset="0"/>
              </a:rPr>
              <a:t>"My pad got better leak protection than Education System"</a:t>
            </a:r>
            <a:endParaRPr lang="en-US" sz="1300" i="1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61000" y="2108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Device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4000" y="2108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Pun on "leak" + parody of sanitary-pad advertising + dark humor that breaks the taboo around menstruation.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61000" y="32258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Target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4000" y="3225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The NEET-UG paper leak and the failure of exam security.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61000" y="43434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Audience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4000" y="4343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Young women as in-group; the out-group is jolted by a taboo subject made public.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61000" y="54610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smtClean="0">
                <a:solidFill>
                  <a:srgbClr val="C82634"/>
                </a:solidFill>
                <a:latin typeface="Calibri" panose="020F0502020204030204" pitchFamily="34" charset="0"/>
              </a:rPr>
              <a:t>Function</a:t>
            </a:r>
            <a:endParaRPr lang="en-US" sz="13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smtClean="0">
                <a:solidFill>
                  <a:srgbClr val="1C1C24"/>
                </a:solidFill>
                <a:latin typeface="Calibri" panose="020F0502020204030204" pitchFamily="34" charset="0"/>
              </a:rPr>
              <a:t>Shock + humor = memorable. An everyday product outperforms a national system, a comparison formal language could never make.</a:t>
            </a:r>
            <a:endParaRPr lang="en-US" sz="13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6770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EMERGING PATTERNS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Four Patterns Across the Seven Posters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20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Borrowed Formats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20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Marvel, Dora, delivery apps, 404 pages, pad ads. Familiar culture carries the critique.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925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4925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Comparison as Accusation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925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Blinkit and a sanitary pad outperform the State. The absurdity is the argument.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230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223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Reclaimed Identity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230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"Baddies are not apolitical": the "unserious" label becomes political.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535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9535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One Shared Target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535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Every item, whatever the joke, points back to one demand: accountability.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993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WHAT HUMOR DID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Humor as Shield, Sword &amp; Community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20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Shield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20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“It’s just a joke”: deniable and harder to censor, while staying completely serious.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925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4925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Sword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925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Says what formal protest language can’t: the State next to a pad, a delivery app, a broken website.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230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223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Community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230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The “you get it” moment is solidarity. Shared laughter turns individual anger collective.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53500" y="2032000"/>
            <a:ext cx="25400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9535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 smtClean="0">
                <a:solidFill>
                  <a:srgbClr val="1C1C24"/>
                </a:solidFill>
                <a:latin typeface="Georgia" panose="02040502050405020303" pitchFamily="18" charset="0"/>
              </a:rPr>
              <a:t>Open to All</a:t>
            </a:r>
            <a:endParaRPr lang="en-US" sz="17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53500" y="299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No policy expertise needed to make or share a meme. Anyone can join the protest.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9932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FINDINGS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What the Seven Posters Show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1590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800" b="1" smtClean="0">
                <a:solidFill>
                  <a:srgbClr val="C82634"/>
                </a:solidFill>
                <a:latin typeface="Georgia" panose="02040502050405020303" pitchFamily="18" charset="0"/>
              </a:rPr>
              <a:t>3 / 7</a:t>
            </a:r>
            <a:endParaRPr lang="en-US" sz="88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6830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smtClean="0">
                <a:solidFill>
                  <a:srgbClr val="696973"/>
                </a:solidFill>
                <a:latin typeface="Calibri" panose="020F0502020204030204" pitchFamily="34" charset="0"/>
              </a:rPr>
              <a:t>posters point straight at missing accountability; the other four hit closely related failures</a:t>
            </a:r>
            <a:endParaRPr lang="en-US" sz="15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34000" y="22225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Intertextuality, irony, parody: 3 posters each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Wordplay / pun: 2  ·  satire, slang, dark humor: 1 each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Most humor is borrowed: Marvel, Dora, Blinkit, 404, ads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Almost every poster has a dual-layered audience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Jokes make critique short, shareable and deniable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No policy expertise needed: anyone can join in</a:t>
            </a:r>
          </a:p>
          <a:p>
            <a:pPr>
              <a:spcAft>
                <a:spcPts val="800"/>
              </a:spcAft>
            </a:pPr>
            <a:r>
              <a:rPr lang="en-US" sz="1600" smtClean="0">
                <a:solidFill>
                  <a:srgbClr val="1C1C24"/>
                </a:solidFill>
                <a:latin typeface="Calibri" panose="020F0502020204030204" pitchFamily="34" charset="0"/>
              </a:rPr>
              <a:t>5 of 7 posters circulated on Pinterest</a:t>
            </a:r>
            <a:endParaRPr lang="en-US" sz="1600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18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CONCLUSION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Humor Carried the Protest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03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01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78000" y="2032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Irony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780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Said one thing and meant another, leaving Gen Z to complete the meaning.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000" y="30226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02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78000" y="3022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Parody &amp; Intertextuality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78000" y="3352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Borrowed what everyone already knew and turned it against the government.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2000" y="4013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03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8000" y="4013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Wordplay &amp; Comparison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78000" y="4343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Made institutional failure look so absurd that it was hard to defend.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2000" y="5003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04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78000" y="5003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Slang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78000" y="533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Turned “baddie”, a label used to dismiss Gen Z, into a political identity.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609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 smtClean="0">
                <a:solidFill>
                  <a:srgbClr val="C82634"/>
                </a:solidFill>
                <a:latin typeface="Calibri" panose="020F0502020204030204" pitchFamily="34" charset="0"/>
              </a:rPr>
              <a:t>Each meme served as a tiny revolution: not decoration around the protest, but a mode of resistance.</a:t>
            </a:r>
            <a:endParaRPr lang="en-US" sz="1300" b="1" dirty="0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241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609600"/>
            <a:ext cx="457200" cy="508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 smtClean="0">
                <a:solidFill>
                  <a:srgbClr val="C82634"/>
                </a:solidFill>
                <a:latin typeface="Calibri" panose="020F0502020204030204" pitchFamily="34" charset="0"/>
              </a:rPr>
              <a:t>RECOMMENDATIONS</a:t>
            </a:r>
            <a:endParaRPr lang="en-US" sz="1200" b="1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101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C1C24"/>
                </a:solidFill>
                <a:latin typeface="Georgia" panose="02040502050405020303" pitchFamily="18" charset="0"/>
              </a:rPr>
              <a:t>Suggestions &amp; Further Research</a:t>
            </a:r>
            <a:endParaRPr lang="en-US" sz="3200" b="1">
              <a:solidFill>
                <a:srgbClr val="1C1C24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203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01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78000" y="2032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Institutions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780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Treat memes as political expression, not disrespect. Secure exams and answer students quickly.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000" y="30226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02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78000" y="3022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Media &amp; Older Generations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78000" y="3352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Engage with Gen Z’s language. Getting the reference is the first step to getting the demand.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2000" y="4013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03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78000" y="4013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Educators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78000" y="4343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Study memes and protest posters as living satire; use multimodal analysis for media literacy.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2000" y="5003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 smtClean="0">
                <a:solidFill>
                  <a:srgbClr val="C82634"/>
                </a:solidFill>
                <a:latin typeface="Georgia" panose="02040502050405020303" pitchFamily="18" charset="0"/>
              </a:rPr>
              <a:t>04</a:t>
            </a:r>
            <a:endParaRPr lang="en-US" sz="3000" b="1">
              <a:solidFill>
                <a:srgbClr val="C82634"/>
              </a:solidFill>
              <a:latin typeface="Georgia" panose="02040502050405020303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78000" y="5003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 smtClean="0">
                <a:solidFill>
                  <a:srgbClr val="1C1C24"/>
                </a:solidFill>
                <a:latin typeface="Calibri" panose="020F0502020204030204" pitchFamily="34" charset="0"/>
              </a:rPr>
              <a:t>Further Research</a:t>
            </a:r>
            <a:endParaRPr lang="en-US" b="1">
              <a:solidFill>
                <a:srgbClr val="1C1C24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78000" y="533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smtClean="0">
                <a:solidFill>
                  <a:srgbClr val="696973"/>
                </a:solidFill>
                <a:latin typeface="Calibri" panose="020F0502020204030204" pitchFamily="34" charset="0"/>
              </a:rPr>
              <a:t>Study a larger set of posters, reels, chants and CJP’s content; compare with Gen Z protests elsewhere.</a:t>
            </a:r>
            <a:endParaRPr lang="en-US" sz="1400">
              <a:solidFill>
                <a:srgbClr val="696973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6096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 dirty="0" smtClean="0">
                <a:solidFill>
                  <a:srgbClr val="C82634"/>
                </a:solidFill>
                <a:latin typeface="Calibri" panose="020F0502020204030204" pitchFamily="34" charset="0"/>
              </a:rPr>
              <a:t>Limitation: a small, purposive corpus of 7 posters, so the findings are interpretive, not statistical.</a:t>
            </a:r>
            <a:endParaRPr lang="en-US" sz="1300" b="1" dirty="0">
              <a:solidFill>
                <a:srgbClr val="C8263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241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2413000"/>
            <a:ext cx="762000" cy="63500"/>
          </a:xfrm>
          <a:prstGeom prst="rect">
            <a:avLst/>
          </a:prstGeom>
          <a:solidFill>
            <a:srgbClr val="C826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2667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 smtClean="0">
                <a:solidFill>
                  <a:srgbClr val="FFFFFF"/>
                </a:solidFill>
                <a:latin typeface="Georgia" panose="02040502050405020303" pitchFamily="18" charset="0"/>
              </a:rPr>
              <a:t>Thank You</a:t>
            </a:r>
            <a:endParaRPr lang="en-US" sz="54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2000" y="3810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i="1" smtClean="0">
                <a:solidFill>
                  <a:srgbClr val="E6C8C8"/>
                </a:solidFill>
                <a:latin typeface="Calibri" panose="020F0502020204030204" pitchFamily="34" charset="0"/>
              </a:rPr>
              <a:t>The unserious generation speaks seriously,</a:t>
            </a:r>
          </a:p>
          <a:p>
            <a:r>
              <a:rPr lang="en-US" i="1" smtClean="0">
                <a:solidFill>
                  <a:srgbClr val="E6C8C8"/>
                </a:solidFill>
                <a:latin typeface="Calibri" panose="020F0502020204030204" pitchFamily="34" charset="0"/>
              </a:rPr>
              <a:t>through the language they know best.</a:t>
            </a:r>
            <a:endParaRPr lang="en-US" i="1">
              <a:solidFill>
                <a:srgbClr val="E6C8C8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smtClean="0">
                <a:solidFill>
                  <a:srgbClr val="AAAAB4"/>
                </a:solidFill>
                <a:latin typeface="Calibri" panose="020F0502020204030204" pitchFamily="34" charset="0"/>
              </a:rPr>
              <a:t>Gatha Kalpana Vijay  ·  SYBA English Literature  ·  October 2026</a:t>
            </a:r>
            <a:endParaRPr lang="en-US" sz="1200">
              <a:solidFill>
                <a:srgbClr val="AAAAB4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855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1587</Words>
  <Application>Microsoft Office PowerPoint</Application>
  <PresentationFormat>Widescreen</PresentationFormat>
  <Paragraphs>191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3</cp:revision>
  <dcterms:created xsi:type="dcterms:W3CDTF">2026-10-01T04:37:50Z</dcterms:created>
  <dcterms:modified xsi:type="dcterms:W3CDTF">2026-10-03T04:03:53Z</dcterms:modified>
</cp:coreProperties>
</file>